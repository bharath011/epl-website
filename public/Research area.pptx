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if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3" r:id="rId4"/>
    <p:sldId id="256" r:id="rId5"/>
    <p:sldId id="257" r:id="rId6"/>
    <p:sldId id="258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733B-6A92-BB1D-B0D2-8B7A43FB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7E307-0BCC-D96F-C2CF-9BC0A026D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4A4A9-925D-7801-0CE2-1F35FFEB0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9B4C4-1C71-ECC0-47F5-A07F4DF2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3E4DA-1F4E-9C4A-4F80-70EC60ED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22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E987-1880-EA7C-012A-58DB6428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0B5BB-8442-4E3C-E063-FBED852A6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5C630-EA91-97EB-4243-B196B513E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E3C69-C5CB-D746-3A4B-66960F82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B1B4F-022D-FCB2-AF1D-4B5BF60B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1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8A97-6624-733F-7B58-DF35156B6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A3B20-EDD6-0C62-8760-39FA2976C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A58B0-FDA8-39C1-5C77-7333B49AD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243E1-7C71-F426-1D2D-ED05DE3C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D1BAE-1C5C-1E10-E32C-C9B8A8B0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BF80-223F-D510-18C8-F9E7A8FC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82E45-4407-6C30-52C8-16B7E9465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6AD12-2137-46B4-C437-50B5C86BD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30766-45D7-4F7B-CDB3-B558A9CB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5A217-573E-549C-1157-D1C405C7C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93AE4-C5E6-7B8E-3496-D7E1D5DE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56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EB51-8544-F670-9B77-EA363951D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D514F-CC99-DF23-EE16-B73B9CBBB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4D1F5-E1FF-F6BA-94F2-30182772C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E94E9-323C-8835-6374-505C41682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DD857-DF03-41B8-002C-D2393FE56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B7D64-802B-BCC4-1CA7-FB2AC111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FB664-366E-5F0C-47B4-E1E73737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A2AEC-186B-C5FC-8FD0-11C77317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6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14C1-B4B0-D2A0-5006-C8FB4AFB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E85F8-710A-338C-F53B-392F9F4F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B73BB-7819-3906-8CFD-99CC2F532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26CE4-3E3E-A5F5-52AC-38FA8A1D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2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16DD4-B15C-D690-872E-092580B06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CB6769-B3C6-417A-792B-AA26E3BE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D6DBB-A5BF-7E51-7318-B65589DD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7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B039-6F70-FA4A-1F9C-1BB65F53D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9ABC5-DBD7-36B3-EC6F-929020FBE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01B93-43CD-DBD2-F1C9-EFA7C5CD2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F4530-B405-5619-BF9B-3969AF4C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958E4-3E10-DE97-A4EB-E8F7FDA1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DD54E-8252-51ED-AC88-CCF922C1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3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B7E6-03AE-8ACD-D186-DECD43D3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B04C2-875F-4EC7-0731-9CAD747B9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51983-5E8C-8BED-0E92-DF7DC76A5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23430-2091-98EB-D700-A6E55B4B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D9100-82B3-05B7-AA2F-DBA3E6A12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4A1F7-895A-B85C-F16F-9E3D2054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52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B3C6E-803D-E276-5A8A-EA2046F2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4E38C-144B-47A3-7071-B55930C18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617E1-030B-9C9E-3AC0-18C563819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C5F8C-4AB8-8DB5-AE35-D78F43F3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4E71B-57AC-3027-5D6D-B087D2DF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FC711-1C70-62EA-3187-1CE716F17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2B3DE-44FC-5635-D04E-9A1D51911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0450E-55D7-AB09-803C-D74597EA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5AC65-BD6A-CE1F-3587-47BD8523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6226E-D9FF-17AE-9596-C56E2750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2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8DF772-40B6-5F9B-8288-428A7189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484D0-1C6F-38A3-E219-743D98E0E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3ABBC-32DD-A6DA-2299-21045F6A2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BD7FF-19D1-496F-9CB9-8787A8E8908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12F6D-410E-BCC7-C65F-74404B9B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0CBEC-A580-074D-FEB0-131E94B23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17063-E6DA-4B8F-8C84-1D9170F2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AE97F-2AB1-AE8D-449C-F7EE50EE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6A32E1-CDF7-B940-F549-328552D44479}"/>
              </a:ext>
            </a:extLst>
          </p:cNvPr>
          <p:cNvSpPr txBox="1"/>
          <p:nvPr/>
        </p:nvSpPr>
        <p:spPr>
          <a:xfrm>
            <a:off x="4548955" y="0"/>
            <a:ext cx="7643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Combustion And Hydrolysis Of Metal Particles For Recyclable Energy With Zero-carbon Emissions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205CF-449C-5054-9DBD-EF401905BF06}"/>
              </a:ext>
            </a:extLst>
          </p:cNvPr>
          <p:cNvSpPr txBox="1"/>
          <p:nvPr/>
        </p:nvSpPr>
        <p:spPr>
          <a:xfrm>
            <a:off x="4548955" y="1750303"/>
            <a:ext cx="7523749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Investigating metal fuel flames as a recyclable, carbon-free energy carrier for next-generation sustainable energy systems.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Studying multiphase combustion phenomena in particle-laden and hybrid fuel flames to advance the understanding of reactive flow physics.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Exploring combustion chemistry, flame dynamics, and stability to enable cleaner and more efficient combustion technologies.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 Developing and applying advanced optical diagnostics for quantitative flame characterization and detailed reactive flow analysis.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C1FC77-6059-6099-AE23-7AFB22113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15" y="131815"/>
            <a:ext cx="1987617" cy="32369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94FD-FBED-2529-9CAE-E5D2CD6AB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679" y="131815"/>
            <a:ext cx="2015276" cy="32369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7608B3-24B7-E7BD-3691-CFCC4FE2E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12" y="3617734"/>
            <a:ext cx="3259733" cy="288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2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D1D07-D300-817C-2E01-5EA3C696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60219A-93CE-345C-0678-67AF1F682F02}"/>
              </a:ext>
            </a:extLst>
          </p:cNvPr>
          <p:cNvSpPr txBox="1"/>
          <p:nvPr/>
        </p:nvSpPr>
        <p:spPr>
          <a:xfrm>
            <a:off x="3609475" y="0"/>
            <a:ext cx="8582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Investigation on Combustion Characteristics of Composite Solid Propellants with Metal and Metal Hydride Additives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B0889-516D-D6FA-78EB-16F34B063EA7}"/>
              </a:ext>
            </a:extLst>
          </p:cNvPr>
          <p:cNvSpPr txBox="1"/>
          <p:nvPr/>
        </p:nvSpPr>
        <p:spPr>
          <a:xfrm>
            <a:off x="4488075" y="1200329"/>
            <a:ext cx="7523749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Metal additives in composite solid propellants - Aluminum (Al), Magnesium (Mg), and Boron (B)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Micro-sized vs. nano-sized metal additives - Effects on burning rate and agglomeration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Metal hydride-based composite solid propellants - </a:t>
            </a:r>
            <a:r>
              <a:rPr lang="en-US" sz="2150" dirty="0" err="1"/>
              <a:t>LiAlH</a:t>
            </a:r>
            <a:r>
              <a:rPr lang="en-US" sz="2150" dirty="0"/>
              <a:t>₄, MgH₂, </a:t>
            </a:r>
            <a:r>
              <a:rPr lang="en-US" sz="2150" dirty="0" err="1"/>
              <a:t>TiH</a:t>
            </a:r>
            <a:r>
              <a:rPr lang="en-US" sz="2150" dirty="0"/>
              <a:t>₂, and </a:t>
            </a:r>
            <a:r>
              <a:rPr lang="en-US" sz="2150" dirty="0" err="1"/>
              <a:t>ZrH</a:t>
            </a:r>
            <a:r>
              <a:rPr lang="en-US" sz="2150" dirty="0"/>
              <a:t>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Combustion characterization - Burning rate, high-speed flame imaging, and agglomerate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Experimental and thermochemical evaluation of advanced energetic additives for solid rocket propulsion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A635A1-92FE-5BBE-2FCE-D5EB941151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92" t="4473" r="1"/>
          <a:stretch>
            <a:fillRect/>
          </a:stretch>
        </p:blipFill>
        <p:spPr bwMode="auto">
          <a:xfrm>
            <a:off x="837137" y="830997"/>
            <a:ext cx="2772338" cy="25325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79AECB-2874-5CCB-017C-3D5C80DD5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04" y="3943370"/>
            <a:ext cx="4110003" cy="208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5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E52C2-9731-2C76-BC5D-AEFF12D8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2C4B95-29B9-475C-53C6-D5DA781C8290}"/>
              </a:ext>
            </a:extLst>
          </p:cNvPr>
          <p:cNvSpPr txBox="1"/>
          <p:nvPr/>
        </p:nvSpPr>
        <p:spPr>
          <a:xfrm>
            <a:off x="4548955" y="0"/>
            <a:ext cx="7643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104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Investigation On Metallized Hydro-reactive Propellants And Propulsive Performance Of Water Breathing Ramjet Engines</a:t>
            </a:r>
            <a:endParaRPr lang="en-IN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13C14-222F-1A99-31C6-42320F0221E6}"/>
              </a:ext>
            </a:extLst>
          </p:cNvPr>
          <p:cNvSpPr txBox="1"/>
          <p:nvPr/>
        </p:nvSpPr>
        <p:spPr>
          <a:xfrm>
            <a:off x="4548955" y="1397674"/>
            <a:ext cx="752374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Developing advanced metal-based propellants for underwater propulsion systems.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Studying how hydro-reactive propellants burn and perform underwater.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Designing and testing water-breathing ramjet engines for better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Improving thrust, burn rate, and engine efficiency through experiments.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Using advanced testing techniques to understand combustion and propellant behavior.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Building safer, more efficient, and high-performance underwater propulsion technologies.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AC241F-5AD9-429E-21F4-8780E8CE8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2" r="10553"/>
          <a:stretch>
            <a:fillRect/>
          </a:stretch>
        </p:blipFill>
        <p:spPr>
          <a:xfrm>
            <a:off x="119295" y="132670"/>
            <a:ext cx="2340864" cy="2816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51C1AB-D737-27CC-E35F-2FBCAD989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96" y="3141069"/>
            <a:ext cx="4193105" cy="2010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E1A90F-33B6-8526-E8AC-11FEDECDA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2" t="25695" r="12037" b="12083"/>
          <a:stretch>
            <a:fillRect/>
          </a:stretch>
        </p:blipFill>
        <p:spPr>
          <a:xfrm>
            <a:off x="498128" y="5288231"/>
            <a:ext cx="1390745" cy="1435608"/>
          </a:xfrm>
          <a:prstGeom prst="rect">
            <a:avLst/>
          </a:prstGeom>
        </p:spPr>
      </p:pic>
      <p:pic>
        <p:nvPicPr>
          <p:cNvPr id="28" name="S3_test_19-11">
            <a:hlinkClick r:id="" action="ppaction://media"/>
            <a:extLst>
              <a:ext uri="{FF2B5EF4-FFF2-40B4-BE49-F238E27FC236}">
                <a16:creationId xmlns:a16="http://schemas.microsoft.com/office/drawing/2014/main" id="{C44302A3-472E-B55F-57E1-AFC38C400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787" y="132670"/>
            <a:ext cx="1979168" cy="281689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D4B9CC7-AFB2-81F0-3448-E1280AD81B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0159" y="5264552"/>
            <a:ext cx="1524048" cy="145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82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5B363A-BF63-B826-AA23-91884259FEAA}"/>
              </a:ext>
            </a:extLst>
          </p:cNvPr>
          <p:cNvSpPr txBox="1"/>
          <p:nvPr/>
        </p:nvSpPr>
        <p:spPr>
          <a:xfrm>
            <a:off x="3609475" y="0"/>
            <a:ext cx="8582526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Combustion Response Measurement of Composite Solid Propellants using T-Burner and Pulsed BEM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EA1C5-57C6-2307-76C2-258152135F3A}"/>
              </a:ext>
            </a:extLst>
          </p:cNvPr>
          <p:cNvSpPr txBox="1"/>
          <p:nvPr/>
        </p:nvSpPr>
        <p:spPr>
          <a:xfrm>
            <a:off x="4507830" y="853952"/>
            <a:ext cx="752374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Measures combustion response using the T-burner technique.</a:t>
            </a:r>
            <a:endParaRPr lang="en-US" sz="21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Characterizes pulsed T-burner tests for non-self-excited propellants.</a:t>
            </a:r>
            <a:endParaRPr lang="en-US" sz="21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Investigates the effect of initial grain temperature on combustion response.</a:t>
            </a:r>
            <a:endParaRPr lang="en-US" sz="21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Demonstrates the influence of propellant composition on stability.</a:t>
            </a:r>
            <a:endParaRPr lang="en-US" sz="21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Unifies self-excited and pulsed combustion response trends.</a:t>
            </a:r>
            <a:endParaRPr lang="en-US" sz="21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Predicts solid rocket motor stability using combustion response data.</a:t>
            </a:r>
            <a:endParaRPr lang="en-US" sz="21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Designing and manufacturing of a complete 3 kg BEM test motor for propellant evaluation.</a:t>
            </a:r>
            <a:endParaRPr lang="en-US" sz="21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Conducting tests at different acoustic frequencies to study combustion behavior.</a:t>
            </a:r>
            <a:endParaRPr lang="en-US" sz="21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Measurement of chamber pressure and burning performance during motor operation.</a:t>
            </a:r>
            <a:endParaRPr lang="en-US" sz="21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150" dirty="0"/>
              <a:t>Generating combustion response data to improve the stability and safety of rocket motors.</a:t>
            </a:r>
            <a:endParaRPr lang="en-US" sz="2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AC7B9-A21F-809F-787C-88A7BE370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69" y="694279"/>
            <a:ext cx="4246961" cy="2305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0770D9-E6DC-AB30-ED3E-D19A714FB5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7" r="6867"/>
          <a:stretch>
            <a:fillRect/>
          </a:stretch>
        </p:blipFill>
        <p:spPr>
          <a:xfrm>
            <a:off x="39103" y="3249568"/>
            <a:ext cx="2679700" cy="1862455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CB659F6B-E23D-A75D-9A62-8E7A4502E0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0012"/>
            <a:ext cx="2987618" cy="11674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2B2661-E8F3-8013-F74F-CB59A1B5EC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20725" y="4476963"/>
            <a:ext cx="3174646" cy="107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16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864C-6170-327D-5A99-26BB3F03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0A2655-02CD-2914-EE6F-4ACE7887097A}"/>
              </a:ext>
            </a:extLst>
          </p:cNvPr>
          <p:cNvSpPr txBox="1"/>
          <p:nvPr/>
        </p:nvSpPr>
        <p:spPr>
          <a:xfrm>
            <a:off x="3609475" y="0"/>
            <a:ext cx="8582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Development of Electrically Controlled Solid Propellants (ECSPs)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87923-3B98-069D-56A7-A89E9E634675}"/>
              </a:ext>
            </a:extLst>
          </p:cNvPr>
          <p:cNvSpPr txBox="1"/>
          <p:nvPr/>
        </p:nvSpPr>
        <p:spPr>
          <a:xfrm>
            <a:off x="4491788" y="629362"/>
            <a:ext cx="7523749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Development of electrically controlled solid propellants (ECSPs) with electrically initiated and controllable combustion.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Formulation and optimization of advanced oxidizer systems for enhanced ignition and combustion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Development of PVA- and PEO-based polymer binder systems for electrically responsive propellants. Incorporation of metallic additives to improve energy release and combustion characteristics.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Integration of carbon-based conductive additives to enhance electrical conductivity and ignition reliability.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 Investigation of catalytic additives for improved ignition and combustion efficiency.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Experimental evaluation of ignition, burn rate, combustion stability, and thrust performance. Design and development of ECSP-based micro-thrusters for advanced propulsion applications.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Research on ECSP applications for nano- and micro-satellites, spacecraft, missile attitude control, and gas generator systems.</a:t>
            </a:r>
          </a:p>
        </p:txBody>
      </p:sp>
      <p:pic>
        <p:nvPicPr>
          <p:cNvPr id="2" name="WhatsApp Video 2026-06-27 at 4.51.04 PM">
            <a:hlinkClick r:id="" action="ppaction://media"/>
            <a:extLst>
              <a:ext uri="{FF2B5EF4-FFF2-40B4-BE49-F238E27FC236}">
                <a16:creationId xmlns:a16="http://schemas.microsoft.com/office/drawing/2014/main" id="{15DFB6B3-9019-ECB9-FB65-066FFD120B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6463" y="461665"/>
            <a:ext cx="4131436" cy="2323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23DAB1-FB0C-9DDE-698C-DB0D0ECABB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888" y="5347640"/>
            <a:ext cx="1350585" cy="1411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EA3DF9-4604-26A2-8693-55B57DC7A2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70" y="2890260"/>
            <a:ext cx="4152129" cy="235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7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864C-6170-327D-5A99-26BB3F03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0A2655-02CD-2914-EE6F-4ACE7887097A}"/>
              </a:ext>
            </a:extLst>
          </p:cNvPr>
          <p:cNvSpPr txBox="1"/>
          <p:nvPr/>
        </p:nvSpPr>
        <p:spPr>
          <a:xfrm>
            <a:off x="3609475" y="0"/>
            <a:ext cx="8582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In-situ Measurements of Aluminum Agglomerate Size, Velocity, and Temperature Using Simultaneous Digital Inline Holography and Imaging Pyrometry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87923-3B98-069D-56A7-A89E9E634675}"/>
              </a:ext>
            </a:extLst>
          </p:cNvPr>
          <p:cNvSpPr txBox="1"/>
          <p:nvPr/>
        </p:nvSpPr>
        <p:spPr>
          <a:xfrm>
            <a:off x="4488075" y="1200329"/>
            <a:ext cx="752374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Integrated Digital Inline Holography (DIH) and imaging pyrometry diagnostic system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Real-time DIH reconstruction using machine learning for high-speed particle field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Simultaneous measurements of aluminum agglomerate size, velocity, and temperature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Image processing algorithms for quantitative agglomerate temperature estimation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Thermo-physical characterization of agglomeration dynamics near the propellant burning surface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50" dirty="0"/>
              <a:t>High-speed optical diagnostics of combustion and particulate evolution in composite solid propellants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70760F-37E1-5948-9972-1162440BE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60" y="973594"/>
            <a:ext cx="3748405" cy="22580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108BC-C40B-5C8C-2401-143B6E683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05" y="3849231"/>
            <a:ext cx="3782060" cy="2035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6938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95ED-E5E8-7DBD-72B0-BA26D689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9B399D-6ADD-EC5E-52F5-5058B74F26FB}"/>
              </a:ext>
            </a:extLst>
          </p:cNvPr>
          <p:cNvSpPr txBox="1"/>
          <p:nvPr/>
        </p:nvSpPr>
        <p:spPr>
          <a:xfrm>
            <a:off x="4548955" y="0"/>
            <a:ext cx="76430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Experimental And Numerical Investigation Of Swirling And Non-swirling Flow For Gaseous (Methane And Ammonia) And Solid Fuels (Metal And Coal) Under Reacting And Non-reacting Conditions.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0C613-3391-5C5A-BD03-7411B1B202DF}"/>
              </a:ext>
            </a:extLst>
          </p:cNvPr>
          <p:cNvSpPr txBox="1"/>
          <p:nvPr/>
        </p:nvSpPr>
        <p:spPr>
          <a:xfrm>
            <a:off x="4548955" y="1750303"/>
            <a:ext cx="752374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Investigation of flame topologies.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Flame stabilization modes (burner attached, lifted and swirling flames).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Reaction of ammonia with metals.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Effect of ammonia over metal combustion as pilot fuel.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Residue analysis of combustion product and flue gases.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150" dirty="0"/>
              <a:t>Analysis of reaction mechanism for ammonia, aluminum and magnesium.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4F7AF-EF79-CE59-41C9-191F9D2E0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6" y="545273"/>
            <a:ext cx="4371622" cy="241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C16F75-530C-C6FD-CDAE-D62D2AB92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6" y="3429000"/>
            <a:ext cx="4517473" cy="273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3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8FA5-8F23-2410-5F42-D303EFD4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7D252A-1B75-51A1-A73F-649DA9616B3D}"/>
              </a:ext>
            </a:extLst>
          </p:cNvPr>
          <p:cNvSpPr txBox="1"/>
          <p:nvPr/>
        </p:nvSpPr>
        <p:spPr>
          <a:xfrm>
            <a:off x="3609475" y="0"/>
            <a:ext cx="8582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Solid Fuel Ducted Ramjet (SFDR) Propulsion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20115-B57E-0ED8-D8BE-871C381B0C66}"/>
              </a:ext>
            </a:extLst>
          </p:cNvPr>
          <p:cNvSpPr txBox="1"/>
          <p:nvPr/>
        </p:nvSpPr>
        <p:spPr>
          <a:xfrm>
            <a:off x="4499947" y="830997"/>
            <a:ext cx="7523749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Development of high-energy boron-based composite fuels for Solid Fuel Ducted Ramjet (SFDR) propulsion.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Investigation of titanium and magnesium hydride additives to improve boron ignition and combustion efficiency.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Experimental evaluation of combustion characteristics, fuel regression, and thrust performance of SFDR fuels.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Characterization of combustion residues using advanced materials analysis techniques to understand reaction mechanisms.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Design and testing of laboratory-scale SFDR propulsion systems for high-speed air-breathing applications.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150" dirty="0"/>
              <a:t>Optimization of fuel formulations to enhance propulsion efficiency and extend the operational range of next-generation missiles.</a:t>
            </a:r>
          </a:p>
        </p:txBody>
      </p:sp>
      <p:pic>
        <p:nvPicPr>
          <p:cNvPr id="2" name="Picture 1" descr="The response of the solid fuel ramjet combustor to the inflow excitations - AmirMahdi Tahsini, Seyed Saeid Nabavi, 2022">
            <a:extLst>
              <a:ext uri="{FF2B5EF4-FFF2-40B4-BE49-F238E27FC236}">
                <a16:creationId xmlns:a16="http://schemas.microsoft.com/office/drawing/2014/main" id="{E1988CE8-DE61-162D-A71F-7EC742A5B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42" y="1128127"/>
            <a:ext cx="3400925" cy="923510"/>
          </a:xfrm>
          <a:prstGeom prst="rect">
            <a:avLst/>
          </a:prstGeom>
        </p:spPr>
      </p:pic>
      <p:pic>
        <p:nvPicPr>
          <p:cNvPr id="3" name="Picture 2" descr="diagram">
            <a:extLst>
              <a:ext uri="{FF2B5EF4-FFF2-40B4-BE49-F238E27FC236}">
                <a16:creationId xmlns:a16="http://schemas.microsoft.com/office/drawing/2014/main" id="{58F6A992-1539-FBF9-6B04-026BFB45CC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32"/>
          <a:stretch>
            <a:fillRect/>
          </a:stretch>
        </p:blipFill>
        <p:spPr>
          <a:xfrm>
            <a:off x="168304" y="3193182"/>
            <a:ext cx="4380651" cy="26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766</Words>
  <Application>Microsoft Office PowerPoint</Application>
  <PresentationFormat>Widescreen</PresentationFormat>
  <Paragraphs>58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Dhadiwal</dc:creator>
  <cp:lastModifiedBy>Rishabh Dhadiwal</cp:lastModifiedBy>
  <cp:revision>3</cp:revision>
  <dcterms:created xsi:type="dcterms:W3CDTF">2026-06-27T11:15:28Z</dcterms:created>
  <dcterms:modified xsi:type="dcterms:W3CDTF">2026-06-29T13:28:50Z</dcterms:modified>
</cp:coreProperties>
</file>